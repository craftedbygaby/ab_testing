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636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orge.barrios.hurtado/viz/Vanguard_ABTest_Dashboard/Dashboard1?publish=y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A/B TEST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 client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rates?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1EFE8"/>
                </a:solidFill>
              </a:rPr>
              <a:t>A data-driven analysis of Vanguard's digital UX experiment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50" dirty="0">
                <a:solidFill>
                  <a:srgbClr val="888780"/>
                </a:solidFill>
              </a:rPr>
              <a:t>Gabriela Cascione  ·  Hina Haq  ·  Jorge Barrios Hurtado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4389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2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54864" cy="33832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Vanguard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Vanguard is one of the world's largest investment management companies, serving over 50 million investors globally.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As part of a digital transformation initiative, the UX team designed a new online process with a refreshed interface and in-context prompts to guide client`s step by step.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The goal: reduce friction and increase the number of clients completing the process.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114800" cy="33832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Central Question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3657600" cy="0"/>
          </a:xfrm>
          <a:prstGeom prst="line">
            <a:avLst/>
          </a:prstGeom>
          <a:noFill/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 lead to a statistically significant improvement in client completion rates?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2004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Test period:</a:t>
            </a:r>
            <a:r>
              <a:rPr lang="en-US" sz="1100" dirty="0">
                <a:solidFill>
                  <a:srgbClr val="FFFFFF"/>
                </a:solidFill>
              </a:rPr>
              <a:t>  March 15 – June 20, 2017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Groups:</a:t>
            </a:r>
            <a:r>
              <a:rPr lang="en-US" sz="1100" dirty="0">
                <a:solidFill>
                  <a:srgbClr val="FFFFFF"/>
                </a:solidFill>
              </a:rPr>
              <a:t>  Control (old UI) vs Test (new UI)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Success threshold:</a:t>
            </a:r>
            <a:r>
              <a:rPr lang="en-US" sz="1100" dirty="0">
                <a:solidFill>
                  <a:srgbClr val="FFFFFF"/>
                </a:solidFill>
              </a:rPr>
              <a:t>  ≥5% improvement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Overview &amp; Preparation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265176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 Profiles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df_final_demo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Demographics: age, gender, tenure,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353312"/>
            <a:ext cx="265176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3931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Digital Footprints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df_final_web_data (pt_1 + pt_2)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1012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Step-by-step interactions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53312"/>
            <a:ext cx="265176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 Roster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476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df_final_experiment_clients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4476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Client assignment: Control or Test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 Merge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Combined pt_1 + pt_2, joined with demo and experiment tables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21408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21408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 Nulls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94560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126,662 rows without group assignment identified (demo-only)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77056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0208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3  Types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50208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date_time → datetime64; process steps mapped to numeric order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32704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2704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5856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4  Outliers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05856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Sessions &gt; 30 min filtered out as inactive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88352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88352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5  Features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61504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Added step_num, time_spent, prev_step_num, is_error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Are Vanguard's Clients?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4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Gender Distribution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45920"/>
            <a:ext cx="18745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Groups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31720" y="1645920"/>
            <a:ext cx="2011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vs Balance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1645920"/>
            <a:ext cx="43434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most clients are middle-aged (31–59), with balance increasing with age. Gender is evenly split across Male, Female and Unknown, which suggests incomplete demographic data.</a:t>
            </a:r>
            <a:endParaRPr lang="en-US" sz="1000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6CBE0DA7-8328-0D67-B8A1-3E9527A7AF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47" t="24864" r="38872" b="18796"/>
          <a:stretch>
            <a:fillRect/>
          </a:stretch>
        </p:blipFill>
        <p:spPr>
          <a:xfrm>
            <a:off x="420624" y="2006600"/>
            <a:ext cx="1783539" cy="1738629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0BE6A39A-AE91-EEA7-DEC4-8CC0AA012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01" r="21786" b="2862"/>
          <a:stretch>
            <a:fillRect/>
          </a:stretch>
        </p:blipFill>
        <p:spPr>
          <a:xfrm>
            <a:off x="4594862" y="1792223"/>
            <a:ext cx="4046218" cy="2066545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48546881-599A-8D5B-F0E0-7AD8C12801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765" t="95986" r="42167"/>
          <a:stretch>
            <a:fillRect/>
          </a:stretch>
        </p:blipFill>
        <p:spPr>
          <a:xfrm>
            <a:off x="6187440" y="3849348"/>
            <a:ext cx="742950" cy="8539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6F97A9D-1CB8-C4DE-53A0-3B98F6DD1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625" r="98269" b="49791"/>
          <a:stretch>
            <a:fillRect/>
          </a:stretch>
        </p:blipFill>
        <p:spPr>
          <a:xfrm>
            <a:off x="4457699" y="2743200"/>
            <a:ext cx="91440" cy="18262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2F35FC7D-FE61-DC07-0419-721B93F7FE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7475" y="1714754"/>
            <a:ext cx="1331673" cy="23312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1 — Completion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Definition: % of unique visits that reach 'confirm' from 'start'  ·  Success: Test &gt; Control by ≥5%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51.91%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194560"/>
            <a:ext cx="2651760" cy="2468880"/>
          </a:xfrm>
          <a:prstGeom prst="rect">
            <a:avLst/>
          </a:prstGeom>
          <a:solidFill>
            <a:srgbClr val="9A0718"/>
          </a:solidFill>
          <a:ln w="635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65.54%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EFE8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Difference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+13.63%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✅ beats 5%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2 — Average Time Spent per Step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Mean duration (seconds) per step per visit  ·  Success: Test &lt; Control (faster = better UX)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 (sec)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(sec)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Faster?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Start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60.91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56.24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47.46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58.48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90.21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88.13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133.30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124.83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Confirm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156.16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221.59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test group was significantly faster at Start, Step 2 and Step 3. No significant difference at Step 1. Test users spent considerably more time at Confirm (a negative finding)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3 — Error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% of visits where users moved backward from a step  ·  Success: Test &lt; Control (less friction)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Interesting finding: test group had higher error rates at Steps 1–2, but a dramatically lower rate at Confirm (9.61% vs 39.03%). The new UI did not reduce overall friction</a:t>
            </a:r>
            <a:endParaRPr lang="en-US" sz="1000" dirty="0"/>
          </a:p>
        </p:txBody>
      </p:sp>
      <p:sp>
        <p:nvSpPr>
          <p:cNvPr id="243" name="Shape 8">
            <a:extLst>
              <a:ext uri="{FF2B5EF4-FFF2-40B4-BE49-F238E27FC236}">
                <a16:creationId xmlns:a16="http://schemas.microsoft.com/office/drawing/2014/main" id="{0B2F84EC-B3B5-3196-8B19-8A61174CBB10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4" name="Text 9">
            <a:extLst>
              <a:ext uri="{FF2B5EF4-FFF2-40B4-BE49-F238E27FC236}">
                <a16:creationId xmlns:a16="http://schemas.microsoft.com/office/drawing/2014/main" id="{E6793B76-63C6-EAF6-BC7B-2767F16F9E33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Step</a:t>
            </a:r>
            <a:endParaRPr lang="en-US" sz="1000" dirty="0"/>
          </a:p>
        </p:txBody>
      </p:sp>
      <p:sp>
        <p:nvSpPr>
          <p:cNvPr id="245" name="Shape 10">
            <a:extLst>
              <a:ext uri="{FF2B5EF4-FFF2-40B4-BE49-F238E27FC236}">
                <a16:creationId xmlns:a16="http://schemas.microsoft.com/office/drawing/2014/main" id="{8CA4725C-DCD6-F228-8C2B-EEB30E7FFC9D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6" name="Text 11">
            <a:extLst>
              <a:ext uri="{FF2B5EF4-FFF2-40B4-BE49-F238E27FC236}">
                <a16:creationId xmlns:a16="http://schemas.microsoft.com/office/drawing/2014/main" id="{962F2F2B-ABF0-8237-B57B-4B3004794E3C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Control error %</a:t>
            </a:r>
            <a:endParaRPr lang="en-US" sz="1000" dirty="0"/>
          </a:p>
        </p:txBody>
      </p:sp>
      <p:sp>
        <p:nvSpPr>
          <p:cNvPr id="247" name="Shape 12">
            <a:extLst>
              <a:ext uri="{FF2B5EF4-FFF2-40B4-BE49-F238E27FC236}">
                <a16:creationId xmlns:a16="http://schemas.microsoft.com/office/drawing/2014/main" id="{2FF66299-DB3A-4F2A-18B7-E684DFC023DF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248" name="Text 13">
            <a:extLst>
              <a:ext uri="{FF2B5EF4-FFF2-40B4-BE49-F238E27FC236}">
                <a16:creationId xmlns:a16="http://schemas.microsoft.com/office/drawing/2014/main" id="{39D626CA-49D9-C0E4-C022-1E3B963577B4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error %</a:t>
            </a:r>
            <a:endParaRPr lang="en-US" sz="1000" dirty="0"/>
          </a:p>
        </p:txBody>
      </p:sp>
      <p:sp>
        <p:nvSpPr>
          <p:cNvPr id="249" name="Shape 14">
            <a:extLst>
              <a:ext uri="{FF2B5EF4-FFF2-40B4-BE49-F238E27FC236}">
                <a16:creationId xmlns:a16="http://schemas.microsoft.com/office/drawing/2014/main" id="{3217D16E-46C3-1CC6-AC56-C670E49E4134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0" name="Text 15">
            <a:extLst>
              <a:ext uri="{FF2B5EF4-FFF2-40B4-BE49-F238E27FC236}">
                <a16:creationId xmlns:a16="http://schemas.microsoft.com/office/drawing/2014/main" id="{F8E40211-17B7-3F35-7458-0A59136B5C19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Diff</a:t>
            </a:r>
            <a:endParaRPr lang="en-US" sz="1000" dirty="0"/>
          </a:p>
        </p:txBody>
      </p:sp>
      <p:sp>
        <p:nvSpPr>
          <p:cNvPr id="251" name="Shape 16">
            <a:extLst>
              <a:ext uri="{FF2B5EF4-FFF2-40B4-BE49-F238E27FC236}">
                <a16:creationId xmlns:a16="http://schemas.microsoft.com/office/drawing/2014/main" id="{F2F34D5F-78EE-A1B0-A4F0-247D7652E987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2" name="Text 17">
            <a:extLst>
              <a:ext uri="{FF2B5EF4-FFF2-40B4-BE49-F238E27FC236}">
                <a16:creationId xmlns:a16="http://schemas.microsoft.com/office/drawing/2014/main" id="{35651317-4020-B366-5A0F-BDA83CBD1FB2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253" name="Shape 18">
            <a:extLst>
              <a:ext uri="{FF2B5EF4-FFF2-40B4-BE49-F238E27FC236}">
                <a16:creationId xmlns:a16="http://schemas.microsoft.com/office/drawing/2014/main" id="{560C15B4-A729-64B7-FF0D-EAE82C223DA4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4" name="Text 19">
            <a:extLst>
              <a:ext uri="{FF2B5EF4-FFF2-40B4-BE49-F238E27FC236}">
                <a16:creationId xmlns:a16="http://schemas.microsoft.com/office/drawing/2014/main" id="{271E8C3A-DB32-5B9A-87FB-F19606ADFB85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Start</a:t>
            </a:r>
            <a:endParaRPr lang="en-US" sz="1000" dirty="0"/>
          </a:p>
        </p:txBody>
      </p:sp>
      <p:sp>
        <p:nvSpPr>
          <p:cNvPr id="255" name="Shape 20">
            <a:extLst>
              <a:ext uri="{FF2B5EF4-FFF2-40B4-BE49-F238E27FC236}">
                <a16:creationId xmlns:a16="http://schemas.microsoft.com/office/drawing/2014/main" id="{016B1043-C943-CAFC-71C0-E21774EE21E7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6" name="Text 21">
            <a:extLst>
              <a:ext uri="{FF2B5EF4-FFF2-40B4-BE49-F238E27FC236}">
                <a16:creationId xmlns:a16="http://schemas.microsoft.com/office/drawing/2014/main" id="{D32A0814-38A6-113D-295E-A3D2EF1C4CAA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0.00%</a:t>
            </a:r>
            <a:endParaRPr lang="en-US" sz="1000" dirty="0"/>
          </a:p>
        </p:txBody>
      </p:sp>
      <p:sp>
        <p:nvSpPr>
          <p:cNvPr id="257" name="Shape 22">
            <a:extLst>
              <a:ext uri="{FF2B5EF4-FFF2-40B4-BE49-F238E27FC236}">
                <a16:creationId xmlns:a16="http://schemas.microsoft.com/office/drawing/2014/main" id="{35FCEA54-53E5-DEF3-5A26-1AFC47EC085C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8" name="Text 23">
            <a:extLst>
              <a:ext uri="{FF2B5EF4-FFF2-40B4-BE49-F238E27FC236}">
                <a16:creationId xmlns:a16="http://schemas.microsoft.com/office/drawing/2014/main" id="{624D692F-DD6A-2E53-5ED1-D513842FF0C7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0.00%</a:t>
            </a:r>
            <a:endParaRPr lang="en-US" sz="1000" dirty="0"/>
          </a:p>
        </p:txBody>
      </p:sp>
      <p:sp>
        <p:nvSpPr>
          <p:cNvPr id="259" name="Shape 24">
            <a:extLst>
              <a:ext uri="{FF2B5EF4-FFF2-40B4-BE49-F238E27FC236}">
                <a16:creationId xmlns:a16="http://schemas.microsoft.com/office/drawing/2014/main" id="{DD9D5945-9965-BA83-73AA-6B0CF668969C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0" name="Text 25">
            <a:extLst>
              <a:ext uri="{FF2B5EF4-FFF2-40B4-BE49-F238E27FC236}">
                <a16:creationId xmlns:a16="http://schemas.microsoft.com/office/drawing/2014/main" id="{DD66255D-E3D6-63FB-910F-D8A73822128F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0.00%</a:t>
            </a:r>
            <a:endParaRPr lang="en-US" sz="1000" dirty="0"/>
          </a:p>
        </p:txBody>
      </p:sp>
      <p:sp>
        <p:nvSpPr>
          <p:cNvPr id="261" name="Shape 26">
            <a:extLst>
              <a:ext uri="{FF2B5EF4-FFF2-40B4-BE49-F238E27FC236}">
                <a16:creationId xmlns:a16="http://schemas.microsoft.com/office/drawing/2014/main" id="{A58C1656-E44B-1110-0D9F-F879E07BD8F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2" name="Text 27">
            <a:extLst>
              <a:ext uri="{FF2B5EF4-FFF2-40B4-BE49-F238E27FC236}">
                <a16:creationId xmlns:a16="http://schemas.microsoft.com/office/drawing/2014/main" id="{EA8AB18D-A182-0DCB-6AC8-F5D1D80516B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—</a:t>
            </a:r>
            <a:endParaRPr lang="en-US" sz="1000" dirty="0"/>
          </a:p>
        </p:txBody>
      </p:sp>
      <p:sp>
        <p:nvSpPr>
          <p:cNvPr id="263" name="Shape 28">
            <a:extLst>
              <a:ext uri="{FF2B5EF4-FFF2-40B4-BE49-F238E27FC236}">
                <a16:creationId xmlns:a16="http://schemas.microsoft.com/office/drawing/2014/main" id="{97016A11-F37A-FE68-76AB-D9EFC6F537AD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4" name="Text 29">
            <a:extLst>
              <a:ext uri="{FF2B5EF4-FFF2-40B4-BE49-F238E27FC236}">
                <a16:creationId xmlns:a16="http://schemas.microsoft.com/office/drawing/2014/main" id="{7BAD4C6C-D49C-5C40-EC62-762ECC6F0BA4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1</a:t>
            </a:r>
            <a:endParaRPr lang="en-US" sz="1000" dirty="0"/>
          </a:p>
        </p:txBody>
      </p:sp>
      <p:sp>
        <p:nvSpPr>
          <p:cNvPr id="265" name="Shape 30">
            <a:extLst>
              <a:ext uri="{FF2B5EF4-FFF2-40B4-BE49-F238E27FC236}">
                <a16:creationId xmlns:a16="http://schemas.microsoft.com/office/drawing/2014/main" id="{75AC70D4-CF9D-52AE-82A1-DEC2208C8934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6" name="Text 31">
            <a:extLst>
              <a:ext uri="{FF2B5EF4-FFF2-40B4-BE49-F238E27FC236}">
                <a16:creationId xmlns:a16="http://schemas.microsoft.com/office/drawing/2014/main" id="{C467A5ED-8531-142A-DC86-E7C8A76BAED5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9.57%</a:t>
            </a:r>
            <a:endParaRPr lang="en-US" sz="1000" dirty="0"/>
          </a:p>
        </p:txBody>
      </p:sp>
      <p:sp>
        <p:nvSpPr>
          <p:cNvPr id="267" name="Shape 32">
            <a:extLst>
              <a:ext uri="{FF2B5EF4-FFF2-40B4-BE49-F238E27FC236}">
                <a16:creationId xmlns:a16="http://schemas.microsoft.com/office/drawing/2014/main" id="{2D4A6570-3B24-F0FE-0952-9A007D9B2B45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8" name="Text 33">
            <a:extLst>
              <a:ext uri="{FF2B5EF4-FFF2-40B4-BE49-F238E27FC236}">
                <a16:creationId xmlns:a16="http://schemas.microsoft.com/office/drawing/2014/main" id="{BCB2F797-0724-4752-A251-16DD7181E02D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18.04%</a:t>
            </a:r>
            <a:endParaRPr lang="en-US" sz="1000" dirty="0"/>
          </a:p>
        </p:txBody>
      </p:sp>
      <p:sp>
        <p:nvSpPr>
          <p:cNvPr id="269" name="Shape 34">
            <a:extLst>
              <a:ext uri="{FF2B5EF4-FFF2-40B4-BE49-F238E27FC236}">
                <a16:creationId xmlns:a16="http://schemas.microsoft.com/office/drawing/2014/main" id="{E6B94330-045A-1F2B-A3D7-24ADAE2FB53A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0" name="Text 35">
            <a:extLst>
              <a:ext uri="{FF2B5EF4-FFF2-40B4-BE49-F238E27FC236}">
                <a16:creationId xmlns:a16="http://schemas.microsoft.com/office/drawing/2014/main" id="{240B2249-4CD9-C5C5-0CEE-743A053F7F89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+8.47%</a:t>
            </a:r>
            <a:endParaRPr lang="en-US" sz="1000" dirty="0"/>
          </a:p>
        </p:txBody>
      </p:sp>
      <p:sp>
        <p:nvSpPr>
          <p:cNvPr id="271" name="Shape 36">
            <a:extLst>
              <a:ext uri="{FF2B5EF4-FFF2-40B4-BE49-F238E27FC236}">
                <a16:creationId xmlns:a16="http://schemas.microsoft.com/office/drawing/2014/main" id="{7AF865E6-33EC-5572-2A7D-EA6E8126D95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2" name="Text 37">
            <a:extLst>
              <a:ext uri="{FF2B5EF4-FFF2-40B4-BE49-F238E27FC236}">
                <a16:creationId xmlns:a16="http://schemas.microsoft.com/office/drawing/2014/main" id="{466764D4-4771-CFEF-2696-4F19F45F7A7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73" name="Shape 38">
            <a:extLst>
              <a:ext uri="{FF2B5EF4-FFF2-40B4-BE49-F238E27FC236}">
                <a16:creationId xmlns:a16="http://schemas.microsoft.com/office/drawing/2014/main" id="{39BB7BBD-2017-0C0D-9044-5EED1416E65F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4" name="Text 39">
            <a:extLst>
              <a:ext uri="{FF2B5EF4-FFF2-40B4-BE49-F238E27FC236}">
                <a16:creationId xmlns:a16="http://schemas.microsoft.com/office/drawing/2014/main" id="{012E632F-8738-C31A-75AC-740C6BBC9946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2</a:t>
            </a:r>
            <a:endParaRPr lang="en-US" sz="1000" dirty="0"/>
          </a:p>
        </p:txBody>
      </p:sp>
      <p:sp>
        <p:nvSpPr>
          <p:cNvPr id="275" name="Shape 40">
            <a:extLst>
              <a:ext uri="{FF2B5EF4-FFF2-40B4-BE49-F238E27FC236}">
                <a16:creationId xmlns:a16="http://schemas.microsoft.com/office/drawing/2014/main" id="{839396F0-1271-736A-E0B8-B9E01122B6CA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6" name="Text 41">
            <a:extLst>
              <a:ext uri="{FF2B5EF4-FFF2-40B4-BE49-F238E27FC236}">
                <a16:creationId xmlns:a16="http://schemas.microsoft.com/office/drawing/2014/main" id="{B0763DBF-AD0D-31CC-5AE5-A99B442316A0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8.91%</a:t>
            </a:r>
            <a:endParaRPr lang="en-US" sz="1000" dirty="0"/>
          </a:p>
        </p:txBody>
      </p:sp>
      <p:sp>
        <p:nvSpPr>
          <p:cNvPr id="277" name="Shape 42">
            <a:extLst>
              <a:ext uri="{FF2B5EF4-FFF2-40B4-BE49-F238E27FC236}">
                <a16:creationId xmlns:a16="http://schemas.microsoft.com/office/drawing/2014/main" id="{36472D78-DC77-5DBC-D933-95E4FB8DFCD8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8" name="Text 43">
            <a:extLst>
              <a:ext uri="{FF2B5EF4-FFF2-40B4-BE49-F238E27FC236}">
                <a16:creationId xmlns:a16="http://schemas.microsoft.com/office/drawing/2014/main" id="{D7E491DA-F88E-88E1-4799-3917B08F4162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16.17%</a:t>
            </a:r>
            <a:endParaRPr lang="en-US" sz="1000" dirty="0"/>
          </a:p>
        </p:txBody>
      </p:sp>
      <p:sp>
        <p:nvSpPr>
          <p:cNvPr id="279" name="Shape 44">
            <a:extLst>
              <a:ext uri="{FF2B5EF4-FFF2-40B4-BE49-F238E27FC236}">
                <a16:creationId xmlns:a16="http://schemas.microsoft.com/office/drawing/2014/main" id="{592D52A9-883C-3284-EF98-7E35FF8CD19D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0" name="Text 45">
            <a:extLst>
              <a:ext uri="{FF2B5EF4-FFF2-40B4-BE49-F238E27FC236}">
                <a16:creationId xmlns:a16="http://schemas.microsoft.com/office/drawing/2014/main" id="{B5FB6055-2E20-5EA8-0EC4-68916234FCAE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+7.26%</a:t>
            </a:r>
            <a:endParaRPr lang="en-US" sz="1000" dirty="0"/>
          </a:p>
        </p:txBody>
      </p:sp>
      <p:sp>
        <p:nvSpPr>
          <p:cNvPr id="281" name="Shape 46">
            <a:extLst>
              <a:ext uri="{FF2B5EF4-FFF2-40B4-BE49-F238E27FC236}">
                <a16:creationId xmlns:a16="http://schemas.microsoft.com/office/drawing/2014/main" id="{D4323439-314E-096B-2ECD-D0B95EF699C6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2" name="Text 47">
            <a:extLst>
              <a:ext uri="{FF2B5EF4-FFF2-40B4-BE49-F238E27FC236}">
                <a16:creationId xmlns:a16="http://schemas.microsoft.com/office/drawing/2014/main" id="{641A7572-8464-6F53-E893-35196D9BF2CA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83" name="Shape 48">
            <a:extLst>
              <a:ext uri="{FF2B5EF4-FFF2-40B4-BE49-F238E27FC236}">
                <a16:creationId xmlns:a16="http://schemas.microsoft.com/office/drawing/2014/main" id="{170C2CCD-0D8E-423F-5ECD-53223D9654E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4" name="Text 49">
            <a:extLst>
              <a:ext uri="{FF2B5EF4-FFF2-40B4-BE49-F238E27FC236}">
                <a16:creationId xmlns:a16="http://schemas.microsoft.com/office/drawing/2014/main" id="{3E329D74-7B6A-435E-A7DE-E1D5D84D6BB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3</a:t>
            </a:r>
            <a:endParaRPr lang="en-US" sz="1000" dirty="0"/>
          </a:p>
        </p:txBody>
      </p:sp>
      <p:sp>
        <p:nvSpPr>
          <p:cNvPr id="285" name="Shape 50">
            <a:extLst>
              <a:ext uri="{FF2B5EF4-FFF2-40B4-BE49-F238E27FC236}">
                <a16:creationId xmlns:a16="http://schemas.microsoft.com/office/drawing/2014/main" id="{3754F179-B0C4-350D-4333-E537C33B63B4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6" name="Text 51">
            <a:extLst>
              <a:ext uri="{FF2B5EF4-FFF2-40B4-BE49-F238E27FC236}">
                <a16:creationId xmlns:a16="http://schemas.microsoft.com/office/drawing/2014/main" id="{4FDDD388-F145-985D-4B8E-22FE3269001C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20.94%</a:t>
            </a:r>
            <a:endParaRPr lang="en-US" sz="1000" dirty="0"/>
          </a:p>
        </p:txBody>
      </p:sp>
      <p:sp>
        <p:nvSpPr>
          <p:cNvPr id="287" name="Shape 52">
            <a:extLst>
              <a:ext uri="{FF2B5EF4-FFF2-40B4-BE49-F238E27FC236}">
                <a16:creationId xmlns:a16="http://schemas.microsoft.com/office/drawing/2014/main" id="{1E5E5C93-9E1D-B8F6-077E-C16B80D7EA83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8" name="Text 53">
            <a:extLst>
              <a:ext uri="{FF2B5EF4-FFF2-40B4-BE49-F238E27FC236}">
                <a16:creationId xmlns:a16="http://schemas.microsoft.com/office/drawing/2014/main" id="{5F0B1655-E46A-3AA3-9B73-E4D3365A0E96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19.78%</a:t>
            </a:r>
            <a:endParaRPr lang="en-US" sz="1000" dirty="0"/>
          </a:p>
        </p:txBody>
      </p:sp>
      <p:sp>
        <p:nvSpPr>
          <p:cNvPr id="289" name="Shape 54">
            <a:extLst>
              <a:ext uri="{FF2B5EF4-FFF2-40B4-BE49-F238E27FC236}">
                <a16:creationId xmlns:a16="http://schemas.microsoft.com/office/drawing/2014/main" id="{9DCA0530-0327-56DE-A002-E5FC2B441BE9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0" name="Text 55">
            <a:extLst>
              <a:ext uri="{FF2B5EF4-FFF2-40B4-BE49-F238E27FC236}">
                <a16:creationId xmlns:a16="http://schemas.microsoft.com/office/drawing/2014/main" id="{3AAED0F0-7ED9-5FE2-A304-122E98B53876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-1.16%</a:t>
            </a:r>
            <a:endParaRPr lang="en-US" sz="1000" dirty="0"/>
          </a:p>
        </p:txBody>
      </p:sp>
      <p:sp>
        <p:nvSpPr>
          <p:cNvPr id="291" name="Shape 56">
            <a:extLst>
              <a:ext uri="{FF2B5EF4-FFF2-40B4-BE49-F238E27FC236}">
                <a16:creationId xmlns:a16="http://schemas.microsoft.com/office/drawing/2014/main" id="{F1631DF9-117E-7F07-568A-628EF1AB53D3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2" name="Text 57">
            <a:extLst>
              <a:ext uri="{FF2B5EF4-FFF2-40B4-BE49-F238E27FC236}">
                <a16:creationId xmlns:a16="http://schemas.microsoft.com/office/drawing/2014/main" id="{C41F4010-4021-EE17-8B31-E4F15C416B10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293" name="Shape 58">
            <a:extLst>
              <a:ext uri="{FF2B5EF4-FFF2-40B4-BE49-F238E27FC236}">
                <a16:creationId xmlns:a16="http://schemas.microsoft.com/office/drawing/2014/main" id="{E7AB50C5-651C-4D00-A887-8BCF27793428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4" name="Text 59">
            <a:extLst>
              <a:ext uri="{FF2B5EF4-FFF2-40B4-BE49-F238E27FC236}">
                <a16:creationId xmlns:a16="http://schemas.microsoft.com/office/drawing/2014/main" id="{D8E15ED5-9134-9F88-296C-06ED63FFFFB1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Confirm</a:t>
            </a:r>
            <a:endParaRPr lang="en-US" sz="1000" dirty="0"/>
          </a:p>
        </p:txBody>
      </p:sp>
      <p:sp>
        <p:nvSpPr>
          <p:cNvPr id="295" name="Shape 60">
            <a:extLst>
              <a:ext uri="{FF2B5EF4-FFF2-40B4-BE49-F238E27FC236}">
                <a16:creationId xmlns:a16="http://schemas.microsoft.com/office/drawing/2014/main" id="{72A6080B-26B1-8EC3-5D50-6F0207B683EE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6" name="Text 61">
            <a:extLst>
              <a:ext uri="{FF2B5EF4-FFF2-40B4-BE49-F238E27FC236}">
                <a16:creationId xmlns:a16="http://schemas.microsoft.com/office/drawing/2014/main" id="{C96B3263-B98F-1411-0677-25A346FFA7EA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39.03%</a:t>
            </a:r>
            <a:endParaRPr lang="en-US" sz="1000" dirty="0"/>
          </a:p>
        </p:txBody>
      </p:sp>
      <p:sp>
        <p:nvSpPr>
          <p:cNvPr id="297" name="Shape 62">
            <a:extLst>
              <a:ext uri="{FF2B5EF4-FFF2-40B4-BE49-F238E27FC236}">
                <a16:creationId xmlns:a16="http://schemas.microsoft.com/office/drawing/2014/main" id="{4F1F2725-817E-20CB-D8B5-A2532C82F5B6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31DB52C6-7DC0-C385-8047-B000FECDF40B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9.61%</a:t>
            </a:r>
            <a:endParaRPr lang="en-US" sz="1000" dirty="0"/>
          </a:p>
        </p:txBody>
      </p:sp>
      <p:sp>
        <p:nvSpPr>
          <p:cNvPr id="299" name="Shape 64">
            <a:extLst>
              <a:ext uri="{FF2B5EF4-FFF2-40B4-BE49-F238E27FC236}">
                <a16:creationId xmlns:a16="http://schemas.microsoft.com/office/drawing/2014/main" id="{87B76F72-0904-A626-2B7C-227A9DD3E670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0" name="Text 65">
            <a:extLst>
              <a:ext uri="{FF2B5EF4-FFF2-40B4-BE49-F238E27FC236}">
                <a16:creationId xmlns:a16="http://schemas.microsoft.com/office/drawing/2014/main" id="{0A7F4DC2-A667-4EB1-2180-461144D4144F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-29.42%</a:t>
            </a:r>
            <a:endParaRPr lang="en-US" sz="1000" dirty="0"/>
          </a:p>
        </p:txBody>
      </p:sp>
      <p:sp>
        <p:nvSpPr>
          <p:cNvPr id="301" name="Shape 66">
            <a:extLst>
              <a:ext uri="{FF2B5EF4-FFF2-40B4-BE49-F238E27FC236}">
                <a16:creationId xmlns:a16="http://schemas.microsoft.com/office/drawing/2014/main" id="{6B833D79-5FBF-9333-981D-EF8B970E6F8A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2" name="Text 67">
            <a:extLst>
              <a:ext uri="{FF2B5EF4-FFF2-40B4-BE49-F238E27FC236}">
                <a16:creationId xmlns:a16="http://schemas.microsoft.com/office/drawing/2014/main" id="{B6816CB1-3002-7C87-924D-37A272AE607F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Testing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≤ Completion rate (Control)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&gt; Completion rate (Control)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35.04 · p &lt; 0.000001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Test: 65.54% vs Control: 51.91%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design significantly improved process completion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353312"/>
            <a:ext cx="27432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11880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Time Spent per Step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82696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≥ Control group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&lt; Control group time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82696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 at Start, Step 2, Step 3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 at Step 1 and Confirm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Start (p=0.0011) · Step 2 (p=0.0101) · Step 3 (p=0.0001): test group significantly faster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Step 1 (p=1.0): no significant difference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Confirm (p=0.9999): test group is actually slower (negative finding)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353312"/>
            <a:ext cx="2743200" cy="47548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64808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Error Rate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64808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≥ Error rate (Control)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5624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64808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&lt; Error rate (Control)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35624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5624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7.9996 · p = 1.0000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UI did not reduce errors: test group showed higher error rate than control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Evaluation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Effectiveness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371600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4173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Well-structured control/test split; unassigned client IDs were dropped to ensure clean group comparison.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084832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1305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Randomisation &amp; Balance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084832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1305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Groups unequal (~3k more in test), assignment method undocumented; bias expected but not seen in visualisations.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98064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Demographic Balance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798064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84378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No meaningful bias detected across age, gender, tenure, balance or account count.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5570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11296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5570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3-month window (Mar–Jun 2017) was adequate, though seasonal effects cannot be fully ruled out.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2702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Additional Data Needs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4224528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67328" y="42702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Clearer step-flow mapping, app context, and client goals would enable more targeted recommendations.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1EFE8"/>
                </a:solidFill>
                <a:hlinkClick r:id="rId3"/>
              </a:rPr>
              <a:t>[ Link 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Teamwork &amp; Learnings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41148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Team Management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1: KPIs and Hypothesis Testing divided individually (one task per person).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2: One big task per team member, with shared ownership of deliverables.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Leadership shifted from Week 1 (assigned lead) to Week 2 (shared knowledge and peer training).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Tools: Trello for task tracking · GitHub for version control · at least 1 commit per project day.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353312"/>
            <a:ext cx="41148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 &amp; Learnings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i="1" dirty="0">
                <a:solidFill>
                  <a:srgbClr val="888780"/>
                </a:solidFill>
              </a:rPr>
              <a:t>Challenges: Communication: coordinating decisions, naming conventions, code structure and which dataset to use at each stage of the analysis.</a:t>
            </a:r>
            <a:endParaRPr lang="en-US" sz="1200" dirty="0"/>
          </a:p>
          <a:p>
            <a:endParaRPr lang="en-US" sz="1200" dirty="0"/>
          </a:p>
          <a:p>
            <a:r>
              <a:rPr lang="en-US" sz="1200" i="1" dirty="0">
                <a:solidFill>
                  <a:srgbClr val="888780"/>
                </a:solidFill>
              </a:rPr>
              <a:t>Building one beautiful, consistent, streamlined dashboard that works 100%.</a:t>
            </a:r>
          </a:p>
          <a:p>
            <a:endParaRPr lang="en-US" sz="1200" i="1" dirty="0">
              <a:solidFill>
                <a:srgbClr val="888780"/>
              </a:solidFill>
            </a:endParaRPr>
          </a:p>
          <a:p>
            <a:r>
              <a:rPr lang="en-US" sz="1200" i="1" dirty="0">
                <a:solidFill>
                  <a:srgbClr val="888780"/>
                </a:solidFill>
              </a:rPr>
              <a:t>Learnings: Regular review is essential to ensure consistency in grouping methodology. Being precise and strict with the questions we ask, and our answers, is key to avoiding misaligned results.</a:t>
            </a:r>
          </a:p>
          <a:p>
            <a:endParaRPr lang="en-US" sz="1200" i="1" dirty="0">
              <a:solidFill>
                <a:srgbClr val="888780"/>
              </a:solidFill>
            </a:endParaRPr>
          </a:p>
          <a:p>
            <a:r>
              <a:rPr lang="en-US" sz="1200" i="1" dirty="0">
                <a:solidFill>
                  <a:srgbClr val="888780"/>
                </a:solidFill>
              </a:rPr>
              <a:t>Different datasets do not allow filtering of visualizations built with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Strengths, Limitations &amp; Next Steps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Large sample size: 317,235 rows, 30k+ unique visits per group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" y="251593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Real user data from a genuine A/B experiment with proper control/test split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168396"/>
            <a:ext cx="2505456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Multiple KPIs analysed across completion, time, errors and funnel drop-off (drop-off was measured but ultimately excluded from the formal analysis)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412394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No meaningful demographic bias confirmed through Tableau visualizations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344168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2968" y="1353312"/>
            <a:ext cx="274320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11880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126,662 rows had no group assignment and were excluded</a:t>
            </a: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928411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Test period only ~3 months (seasonal effects cannot be ruled out)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00984" y="351996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Assignment method undocumented (minor randomisation risk remains)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00984" y="411151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Step-flow logic unclear: uncertain which steps can lead backwards to which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353312"/>
            <a:ext cx="274320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7336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6480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35624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Investigate why users go backwards at the start of the 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35624" y="2624328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Re-run analysis with demographic filters to check if specific segments benefit more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35624" y="3374136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Extend or repeat the test across different seasons to confirm results hold</a:t>
            </a:r>
            <a:endParaRPr lang="en-US" sz="900" dirty="0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D4A10902-27FD-F896-BEED-56623180DCA8}"/>
              </a:ext>
            </a:extLst>
          </p:cNvPr>
          <p:cNvSpPr/>
          <p:nvPr/>
        </p:nvSpPr>
        <p:spPr>
          <a:xfrm>
            <a:off x="3291840" y="2445068"/>
            <a:ext cx="2505456" cy="253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Possible incomplete demographics data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1280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Verdict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EFE8"/>
                </a:solidFill>
              </a:rPr>
              <a:t>The new UI significantly boosted completion rates: up 13.63%, well above the 5% target. Users in the test group dropped off less at the beginning and end of the funnel and progressed further through the process.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Completion rate jumped from 51.91% to 65.54%, meaning the new design works.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Time improvements were significant at Start, Step 2 and Step 3; but test users were actually slower at Confirm.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Error rates were higher in the test group; users navigated backwards more, especially early 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Recommendation: roll out the new UI, but investigate why users are confused at the start of the process.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097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3840480" y="2286000"/>
            <a:ext cx="5029200" cy="0"/>
          </a:xfrm>
          <a:prstGeom prst="line">
            <a:avLst/>
          </a:prstGeom>
          <a:noFill/>
          <a:ln w="25400">
            <a:solidFill>
              <a:srgbClr val="9A07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1E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Gabriela Cascione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Hina Haq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Jorge Barrios Hurtado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1453</Words>
  <Application>Microsoft Office PowerPoint</Application>
  <PresentationFormat>Apresentação na tela (16:9)</PresentationFormat>
  <Paragraphs>265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A/B Test Analysis</dc:title>
  <dc:subject>PptxGenJS Presentation</dc:subject>
  <dc:creator>Gabriela Cascione, Hina Haq, Jorge Barrios Hurtado</dc:creator>
  <cp:lastModifiedBy>Gabriela Silva Cascione</cp:lastModifiedBy>
  <cp:revision>12</cp:revision>
  <dcterms:created xsi:type="dcterms:W3CDTF">2026-05-07T15:34:46Z</dcterms:created>
  <dcterms:modified xsi:type="dcterms:W3CDTF">2026-05-08T07:34:07Z</dcterms:modified>
</cp:coreProperties>
</file>