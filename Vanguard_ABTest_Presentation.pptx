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389120"/>
            <a:ext cx="3474720" cy="754380"/>
          </a:xfrm>
          <a:prstGeom prst="rect">
            <a:avLst/>
          </a:prstGeom>
          <a:solidFill>
            <a:srgbClr val="6B0411"/>
          </a:solidFill>
          <a:ln w="12700">
            <a:solidFill>
              <a:srgbClr val="6B04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4572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182880" y="1417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1965960"/>
            <a:ext cx="274320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" y="20574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200" kern="0" dirty="0">
                <a:solidFill>
                  <a:srgbClr val="FFFFFF"/>
                </a:solidFill>
              </a:rPr>
              <a:t>A/B TEST ANALYSIS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82880" y="2377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200" kern="0" dirty="0">
                <a:solidFill>
                  <a:srgbClr val="FFFFFF"/>
                </a:solidFill>
              </a:rPr>
              <a:t>2017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0" y="914400"/>
            <a:ext cx="50292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Did the new UI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improve client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completion rates?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840480" y="32004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1EFE8"/>
                </a:solidFill>
              </a:rPr>
              <a:t>A data-driven analysis of Vanguard's digital UX experiment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840480" y="40233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50" kern="0" dirty="0">
                <a:solidFill>
                  <a:srgbClr val="888780"/>
                </a:solidFill>
              </a:rPr>
              <a:t>Gabriela Cascione  ·  Hina Haq  ·  Jorge Barrios Hurtado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0480" y="43891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780"/>
                </a:solidFill>
              </a:rPr>
              <a:t>IronHack · Weeks 5 &amp; 6 ·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780"/>
                </a:solidFill>
              </a:rPr>
              <a:t>2 / 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393192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371600"/>
            <a:ext cx="54864" cy="3383280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508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About Vanguard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1920240"/>
            <a:ext cx="35661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1"/>
                </a:solidFill>
              </a:rPr>
              <a:t>Vanguard is one of the world's largest investment management companies, serving over 50 million investors globally.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4441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4441"/>
                </a:solidFill>
              </a:rPr>
              <a:t>As part of a digital transformation initiative, the UX team designed a new online process with a refreshed interface and in-context prompts to guide clients step by step.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4441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4441"/>
                </a:solidFill>
              </a:rPr>
              <a:t>The goal: reduce friction and increase the number of clients completing the process.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371600"/>
            <a:ext cx="4114800" cy="33832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15544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Central Question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846320" y="1965960"/>
            <a:ext cx="3657600" cy="0"/>
          </a:xfrm>
          <a:prstGeom prst="line">
            <a:avLst/>
          </a:prstGeom>
          <a:noFill/>
          <a:ln w="12700">
            <a:solidFill>
              <a:srgbClr val="9A071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210312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Did the new UI lead to a statistically significant improvement in client completion rates?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46320" y="3200400"/>
            <a:ext cx="37490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1EFE8"/>
                </a:solidFill>
              </a:rPr>
              <a:t>Test period: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March 15 – June 20, 2017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1EFE8"/>
                </a:solidFill>
              </a:rPr>
              <a:t>Groups: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Control (old UI) vs Test (new UI)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1EFE8"/>
                </a:solidFill>
              </a:rPr>
              <a:t>Success threshold: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  ≥5% improvement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Overview &amp; Preparation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780"/>
                </a:solidFill>
              </a:rPr>
              <a:t>3 / 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53312"/>
            <a:ext cx="265176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353312"/>
            <a:ext cx="2651760" cy="43891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38988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04672" y="140817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Client Profiles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" y="18470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88780"/>
                </a:solidFill>
              </a:rPr>
              <a:t>df_final_demo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75488" y="2148840"/>
            <a:ext cx="2423160" cy="0"/>
          </a:xfrm>
          <a:prstGeom prst="line">
            <a:avLst/>
          </a:prstGeom>
          <a:noFill/>
          <a:ln w="6350">
            <a:solidFill>
              <a:srgbClr val="E8E5D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2212848"/>
            <a:ext cx="2423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44441"/>
                </a:solidFill>
              </a:rPr>
              <a:t>Demographics: age, gender, tenure, balance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0" y="1353312"/>
            <a:ext cx="265176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1353312"/>
            <a:ext cx="2651760" cy="43891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91840" y="138988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39312" y="140817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Digital Footprints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310128" y="18470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88780"/>
                </a:solidFill>
              </a:rPr>
              <a:t>df_final_web_data (pt_1 + pt_2)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310128" y="2148840"/>
            <a:ext cx="2423160" cy="0"/>
          </a:xfrm>
          <a:prstGeom prst="line">
            <a:avLst/>
          </a:prstGeom>
          <a:noFill/>
          <a:ln w="6350">
            <a:solidFill>
              <a:srgbClr val="E8E5D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10128" y="2212848"/>
            <a:ext cx="2423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44441"/>
                </a:solidFill>
              </a:rPr>
              <a:t>Step-by-step interactions with timestamps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035040" y="1353312"/>
            <a:ext cx="265176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35040" y="1353312"/>
            <a:ext cx="2651760" cy="438912"/>
          </a:xfrm>
          <a:prstGeom prst="rect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26480" y="138988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73952" y="140817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Experiment Roster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144768" y="18470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88780"/>
                </a:solidFill>
              </a:rPr>
              <a:t>df_final_experiment_clients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144768" y="2148840"/>
            <a:ext cx="2423160" cy="0"/>
          </a:xfrm>
          <a:prstGeom prst="line">
            <a:avLst/>
          </a:prstGeom>
          <a:noFill/>
          <a:ln w="6350">
            <a:solidFill>
              <a:srgbClr val="E8E5D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44768" y="2212848"/>
            <a:ext cx="24231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44441"/>
                </a:solidFill>
              </a:rPr>
              <a:t>Client assignment: Control or Test group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65760" y="31546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Cleaning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3493008"/>
            <a:ext cx="1664208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" y="3493008"/>
            <a:ext cx="1664208" cy="292608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8912" y="351129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  Merge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38912" y="3822192"/>
            <a:ext cx="150876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Combined pt_1 + pt_2, joined with demo and experiment tables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121408" y="3493008"/>
            <a:ext cx="1664208" cy="1417320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121408" y="3493008"/>
            <a:ext cx="1664208" cy="292608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194560" y="351129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  Nulls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194560" y="3822192"/>
            <a:ext cx="150876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126,662 rows without group assignment identified (demo-only)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877056" y="3493008"/>
            <a:ext cx="1664208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877056" y="3493008"/>
            <a:ext cx="1664208" cy="292608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0208" y="351129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  Types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950208" y="3822192"/>
            <a:ext cx="150876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date_time → datetime64; process steps mapped to numeric order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32704" y="3493008"/>
            <a:ext cx="1664208" cy="1417320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632704" y="3493008"/>
            <a:ext cx="1664208" cy="292608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705856" y="351129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  Outliers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705856" y="3822192"/>
            <a:ext cx="150876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Sessions &gt; 30 min filtered out as inactive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388352" y="3493008"/>
            <a:ext cx="1664208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388352" y="3493008"/>
            <a:ext cx="1664208" cy="292608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61504" y="351129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5  Features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461504" y="3822192"/>
            <a:ext cx="150876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Added step_num, time_spent, prev_step_num, is_error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Are Vanguard's Clients?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780"/>
                </a:solidFill>
              </a:rPr>
              <a:t>4 / 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53312"/>
            <a:ext cx="4114800" cy="320040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35331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Gender Distribution</a:t>
            </a:r>
            <a:endParaRPr lang="en-US" sz="1000" dirty="0"/>
          </a:p>
        </p:txBody>
      </p:sp>
      <p:pic>
        <p:nvPicPr>
          <p:cNvPr id="10" name="Image 0" descr="/home/claude/Gen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673352"/>
            <a:ext cx="4114800" cy="173736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663440" y="1353312"/>
            <a:ext cx="4114800" cy="3200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663440" y="135331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Age Groups</a:t>
            </a:r>
            <a:endParaRPr lang="en-US" sz="1000" dirty="0"/>
          </a:p>
        </p:txBody>
      </p:sp>
      <p:pic>
        <p:nvPicPr>
          <p:cNvPr id="13" name="Image 1" descr="/home/claude/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673352"/>
            <a:ext cx="4114800" cy="173736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65760" y="3566160"/>
            <a:ext cx="8412480" cy="320040"/>
          </a:xfrm>
          <a:prstGeom prst="rect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365760" y="35661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Age vs Balance</a:t>
            </a:r>
            <a:endParaRPr lang="en-US" sz="1000" dirty="0"/>
          </a:p>
        </p:txBody>
      </p:sp>
      <p:pic>
        <p:nvPicPr>
          <p:cNvPr id="16" name="Image 2" descr="/home/claude/age_vs_bala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886200"/>
            <a:ext cx="8412480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KPI 1 — Completion Rate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780"/>
                </a:solidFill>
              </a:rPr>
              <a:t>5 / 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8412480" cy="6400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417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FFFFF"/>
                </a:solidFill>
              </a:rPr>
              <a:t>Definition: % of unique visits that reach 'confirm' from 'start'  ·  Success: Test &gt; Control by ≥5%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265176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3317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</a:rPr>
              <a:t>Control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8346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51.91%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457200" y="37033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780"/>
                </a:solidFill>
              </a:rPr>
              <a:t>completion rate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91840" y="2194560"/>
            <a:ext cx="2651760" cy="2468880"/>
          </a:xfrm>
          <a:prstGeom prst="rect">
            <a:avLst/>
          </a:prstGeom>
          <a:solidFill>
            <a:srgbClr val="9A0718"/>
          </a:solidFill>
          <a:ln w="6350">
            <a:solidFill>
              <a:srgbClr val="9A071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91840" y="23317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Test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91840" y="28346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65.54%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3291840" y="37033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EFE8"/>
                </a:solidFill>
              </a:rPr>
              <a:t>completion rate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26480" y="2194560"/>
            <a:ext cx="265176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0" y="23317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</a:rPr>
              <a:t>Difference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126480" y="28346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+13.63%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126480" y="37033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780"/>
                </a:solidFill>
              </a:rPr>
              <a:t>✅ beats 5% threshold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KPI 2 — Average Time Spent per Step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780"/>
                </a:solidFill>
              </a:rPr>
              <a:t>6 / 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841248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38988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</a:rPr>
              <a:t>Definition: Mean duration (seconds) per step per visit  ·  Success: Test &lt; Control (faster = better UX)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920240"/>
            <a:ext cx="2103120" cy="34747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92024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560320" y="1920240"/>
            <a:ext cx="2011680" cy="34747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60320" y="192024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Control (sec)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1920240"/>
            <a:ext cx="2011680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192024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Test (sec)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766560" y="1920240"/>
            <a:ext cx="2011680" cy="347472"/>
          </a:xfrm>
          <a:prstGeom prst="rect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0" y="192024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Faster?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2304288"/>
            <a:ext cx="21031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30428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Start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560320" y="2304288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60320" y="230428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</a:rPr>
              <a:t>60.91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2304288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230428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0718"/>
                </a:solidFill>
              </a:rPr>
              <a:t>56.24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766560" y="2304288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0" y="230428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6D11"/>
                </a:solidFill>
              </a:rPr>
              <a:t>✅ Test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2688336"/>
            <a:ext cx="210312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268833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Step 1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560320" y="2688336"/>
            <a:ext cx="201168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60320" y="268833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</a:rPr>
              <a:t>47.46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663440" y="2688336"/>
            <a:ext cx="201168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63440" y="268833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0718"/>
                </a:solidFill>
              </a:rPr>
              <a:t>58.48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766560" y="2688336"/>
            <a:ext cx="201168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6560" y="268833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2D2D"/>
                </a:solidFill>
              </a:rPr>
              <a:t>❌ Control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65760" y="3072384"/>
            <a:ext cx="21031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307238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Step 2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560320" y="3072384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60320" y="307238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</a:rPr>
              <a:t>90.21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663440" y="3072384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63440" y="307238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0718"/>
                </a:solidFill>
              </a:rPr>
              <a:t>88.13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766560" y="3072384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766560" y="307238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6D11"/>
                </a:solidFill>
              </a:rPr>
              <a:t>✅ Test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65760" y="3456432"/>
            <a:ext cx="210312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45643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Step 3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2560320" y="3456432"/>
            <a:ext cx="201168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60320" y="345643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</a:rPr>
              <a:t>133.30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663440" y="3456432"/>
            <a:ext cx="201168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663440" y="345643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0718"/>
                </a:solidFill>
              </a:rPr>
              <a:t>124.83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766560" y="3456432"/>
            <a:ext cx="201168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766560" y="345643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6D11"/>
                </a:solidFill>
              </a:rPr>
              <a:t>✅ Test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365760" y="3840480"/>
            <a:ext cx="21031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5760" y="384048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Confirm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2560320" y="3840480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560320" y="384048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</a:rPr>
              <a:t>156.16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4663440" y="3840480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663440" y="384048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0718"/>
                </a:solidFill>
              </a:rPr>
              <a:t>221.59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766560" y="3840480"/>
            <a:ext cx="20116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766560" y="384048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2D2D"/>
                </a:solidFill>
              </a:rPr>
              <a:t>❌ Control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365760" y="4315968"/>
            <a:ext cx="8412480" cy="53035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65760" y="4315968"/>
            <a:ext cx="54864" cy="53035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8640" y="4343400"/>
            <a:ext cx="8092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A1A2E"/>
                </a:solidFill>
              </a:rPr>
              <a:t>Key insight: test group was significantly faster at Start, Step 2 and Step 3. No significant difference at Step 1. Test users spent considerably more time at Confirm — a negative finding.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KPI 3 — Error Rate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780"/>
                </a:solidFill>
              </a:rPr>
              <a:t>7 / 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841248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38988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</a:rPr>
              <a:t>Definition: % of visits where users moved backward from a step  ·  Success: Test &lt; Control (less friction)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920240"/>
            <a:ext cx="2103120" cy="34747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92024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Step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1920240"/>
            <a:ext cx="1920240" cy="34747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60320" y="19202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Control error 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0" y="1920240"/>
            <a:ext cx="1920240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19202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Test error 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0" y="1920240"/>
            <a:ext cx="1097280" cy="347472"/>
          </a:xfrm>
          <a:prstGeom prst="rect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192024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Diff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772400" y="1920240"/>
            <a:ext cx="1097280" cy="347472"/>
          </a:xfrm>
          <a:prstGeom prst="rect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0" y="192024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Result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2304288"/>
            <a:ext cx="21031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230428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Start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560320" y="2304288"/>
            <a:ext cx="19202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60320" y="23042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</a:rPr>
              <a:t>0.00%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0" y="2304288"/>
            <a:ext cx="19202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0" y="23042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0718"/>
                </a:solidFill>
              </a:rPr>
              <a:t>0.00%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583680" y="2304288"/>
            <a:ext cx="10972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0" y="230428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780"/>
                </a:solidFill>
              </a:rPr>
              <a:t>0.00%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72400" y="2304288"/>
            <a:ext cx="10972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0" y="230428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6D11"/>
                </a:solidFill>
              </a:rPr>
              <a:t>—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760" y="2688336"/>
            <a:ext cx="210312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268833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Step 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560320" y="2688336"/>
            <a:ext cx="192024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560320" y="268833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</a:rPr>
              <a:t>9.57%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0" y="2688336"/>
            <a:ext cx="192024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0" y="268833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0718"/>
                </a:solidFill>
              </a:rPr>
              <a:t>18.04%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583680" y="2688336"/>
            <a:ext cx="109728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0" y="268833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32D2D"/>
                </a:solidFill>
              </a:rPr>
              <a:t>+8.47%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772400" y="2688336"/>
            <a:ext cx="109728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0" y="268833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32D2D"/>
                </a:solidFill>
              </a:rPr>
              <a:t>❌ Test worse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65760" y="3072384"/>
            <a:ext cx="21031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307238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Step 2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560320" y="3072384"/>
            <a:ext cx="19202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60320" y="307238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</a:rPr>
              <a:t>8.91%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572000" y="3072384"/>
            <a:ext cx="19202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72000" y="307238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0718"/>
                </a:solidFill>
              </a:rPr>
              <a:t>16.17%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583680" y="3072384"/>
            <a:ext cx="10972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83680" y="307238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32D2D"/>
                </a:solidFill>
              </a:rPr>
              <a:t>+7.26%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772400" y="3072384"/>
            <a:ext cx="10972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72400" y="307238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32D2D"/>
                </a:solidFill>
              </a:rPr>
              <a:t>❌ Test worse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65760" y="3456432"/>
            <a:ext cx="210312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5760" y="345643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Step 3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2560320" y="3456432"/>
            <a:ext cx="192024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560320" y="34564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</a:rPr>
              <a:t>20.94%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572000" y="3456432"/>
            <a:ext cx="192024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0" y="34564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0718"/>
                </a:solidFill>
              </a:rPr>
              <a:t>19.78%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6583680" y="3456432"/>
            <a:ext cx="109728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83680" y="345643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6D11"/>
                </a:solidFill>
              </a:rPr>
              <a:t>-1.16%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7772400" y="3456432"/>
            <a:ext cx="1097280" cy="34747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72400" y="345643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6D11"/>
                </a:solidFill>
              </a:rPr>
              <a:t>✅ Test better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65760" y="3840480"/>
            <a:ext cx="21031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65760" y="384048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Confirm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560320" y="3840480"/>
            <a:ext cx="19202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560320" y="38404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</a:rPr>
              <a:t>39.03%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4572000" y="3840480"/>
            <a:ext cx="19202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572000" y="38404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0718"/>
                </a:solidFill>
              </a:rPr>
              <a:t>9.61%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583680" y="3840480"/>
            <a:ext cx="10972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83680" y="38404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6D11"/>
                </a:solidFill>
              </a:rPr>
              <a:t>-29.42%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7772400" y="3840480"/>
            <a:ext cx="10972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772400" y="38404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6D11"/>
                </a:solidFill>
              </a:rPr>
              <a:t>✅ Test better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365760" y="4315968"/>
            <a:ext cx="8412480" cy="530352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365760" y="4315968"/>
            <a:ext cx="54864" cy="5303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48640" y="4343400"/>
            <a:ext cx="8092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A1A2E"/>
                </a:solidFill>
              </a:rPr>
              <a:t>Interesting finding: test group had higher error rates at Steps 1–2, but a dramatically lower rate at Confirm (9.61% vs 39.03%). The new UI did not reduce overall friction.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Hypothesis Testing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780"/>
                </a:solidFill>
              </a:rPr>
              <a:t>8 / 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353312"/>
            <a:ext cx="2743200" cy="35478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353312"/>
            <a:ext cx="2743200" cy="475488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38988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58952" y="1426464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Completion Rate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29768" y="19202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H₀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58952" y="1883664"/>
            <a:ext cx="217627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Completion rate (Test) ≤ Completion rate (Control)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29768" y="242316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0718"/>
                </a:solidFill>
              </a:rPr>
              <a:t>H₁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58952" y="2386584"/>
            <a:ext cx="217627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Completion rate (Test) &gt; Completion rate (Control)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29768" y="2907792"/>
            <a:ext cx="2505456" cy="0"/>
          </a:xfrm>
          <a:prstGeom prst="line">
            <a:avLst/>
          </a:prstGeom>
          <a:noFill/>
          <a:ln w="6350">
            <a:solidFill>
              <a:srgbClr val="E8E5D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" y="2999232"/>
            <a:ext cx="250545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888780"/>
                </a:solidFill>
              </a:rPr>
              <a:t>✅ Reject H₀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888780"/>
                </a:solidFill>
              </a:rPr>
              <a:t>Z = 35.04 · p &lt; 0.000001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888780"/>
                </a:solidFill>
              </a:rPr>
              <a:t>Test: 65.54% vs Control: 51.91%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888780"/>
                </a:solidFill>
              </a:rPr>
              <a:t>The new design significantly improved process completion.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172968" y="1353312"/>
            <a:ext cx="2743200" cy="35478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72968" y="1353312"/>
            <a:ext cx="2743200" cy="47548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64408" y="138988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611880" y="1426464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Time Spent per Step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282696" y="19202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H₀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11880" y="1883664"/>
            <a:ext cx="217627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Test group time ≥ Control group time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282696" y="242316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0718"/>
                </a:solidFill>
              </a:rPr>
              <a:t>H₁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611880" y="2386584"/>
            <a:ext cx="217627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Test group time &lt; Control group time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82696" y="2907792"/>
            <a:ext cx="2505456" cy="0"/>
          </a:xfrm>
          <a:prstGeom prst="line">
            <a:avLst/>
          </a:prstGeom>
          <a:noFill/>
          <a:ln w="6350">
            <a:solidFill>
              <a:srgbClr val="E8E5D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82696" y="2999232"/>
            <a:ext cx="250545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888780"/>
                </a:solidFill>
              </a:rPr>
              <a:t>✅ Reject H₀ at Start, Step 2, Step 3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888780"/>
                </a:solidFill>
              </a:rPr>
              <a:t>❌ Fail to reject H₀ at Step 1 and Confirm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888780"/>
                </a:solidFill>
              </a:rPr>
              <a:t>Start (p=0.0011) · Step 2 (p=0.0101) · Step 3 (p=0.0001): test group significantly faster.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888780"/>
                </a:solidFill>
              </a:rPr>
              <a:t>Step 1 (p=1.0): no significant difference.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888780"/>
                </a:solidFill>
              </a:rPr>
              <a:t>Confirm (p=0.9999): test group is actually slower — negative finding.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25896" y="1353312"/>
            <a:ext cx="2743200" cy="35478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25896" y="1353312"/>
            <a:ext cx="2743200" cy="475488"/>
          </a:xfrm>
          <a:prstGeom prst="rect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17336" y="138988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464808" y="1426464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Error Rate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135624" y="19202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H₀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64808" y="1883664"/>
            <a:ext cx="217627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Error rate (Test) ≥ Error rate (Control)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135624" y="242316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0718"/>
                </a:solidFill>
              </a:rPr>
              <a:t>H₁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64808" y="2386584"/>
            <a:ext cx="217627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Error rate (Test) &lt; Error rate (Control)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135624" y="2907792"/>
            <a:ext cx="2505456" cy="0"/>
          </a:xfrm>
          <a:prstGeom prst="line">
            <a:avLst/>
          </a:prstGeom>
          <a:noFill/>
          <a:ln w="6350">
            <a:solidFill>
              <a:srgbClr val="E8E5D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35624" y="2999232"/>
            <a:ext cx="250545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888780"/>
                </a:solidFill>
              </a:rPr>
              <a:t>❌ Fail to Reject H₀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888780"/>
                </a:solidFill>
              </a:rPr>
              <a:t>Z = 7.9996 · p = 1.0000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888780"/>
                </a:solidFill>
              </a:rPr>
              <a:t>The new UI did not reduce errors — test group showed higher error rate than control.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Experiment Evaluation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780"/>
                </a:solidFill>
              </a:rPr>
              <a:t>9 / 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3200400" cy="5943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" y="14173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Design Effectiveness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0" y="1371600"/>
            <a:ext cx="52120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67328" y="141732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4441"/>
                </a:solidFill>
              </a:rPr>
              <a:t>Well-structured control/test split; unassigned client IDs were dropped to ensure clean group comparison.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2084832"/>
            <a:ext cx="3200400" cy="5943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21305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Randomisation &amp; Balance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0" y="2084832"/>
            <a:ext cx="5212080" cy="594360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67328" y="213055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4441"/>
                </a:solidFill>
              </a:rPr>
              <a:t>Groups unequal (~3k more in test), assignment method undocumented — bias expected but not seen in visualisations.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798064"/>
            <a:ext cx="3200400" cy="5943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" y="284378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Demographic Balance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57600" y="2798064"/>
            <a:ext cx="52120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67328" y="2843784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4441"/>
                </a:solidFill>
              </a:rPr>
              <a:t>No meaningful bias detected across age, gender, tenure, balance or account count.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3511296"/>
            <a:ext cx="3200400" cy="5943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" y="355701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Duration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57600" y="3511296"/>
            <a:ext cx="5212080" cy="594360"/>
          </a:xfrm>
          <a:prstGeom prst="rect">
            <a:avLst/>
          </a:prstGeom>
          <a:solidFill>
            <a:srgbClr val="F1EFE8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67328" y="3557016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4441"/>
                </a:solidFill>
              </a:rPr>
              <a:t>3-month window (Mar–Jun 2017) was adequate, though seasonal effects cannot be fully ruled out.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4224528"/>
            <a:ext cx="3200400" cy="5943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488" y="427024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Additional Data Needs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0" y="4224528"/>
            <a:ext cx="52120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67328" y="4270248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4441"/>
                </a:solidFill>
              </a:rPr>
              <a:t>Clearer step-flow mapping, app context, and client goals would enable more targeted recommendations.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Dashboard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780"/>
                </a:solidFill>
              </a:rPr>
              <a:t>10 / 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8412480" cy="32918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25603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Dashboard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65760" y="31546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1EFE8"/>
                </a:solidFill>
              </a:rPr>
              <a:t>[ Demo ]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Teamwork &amp; Learnings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780"/>
                </a:solidFill>
              </a:rPr>
              <a:t>11 / 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53312"/>
            <a:ext cx="411480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353312"/>
            <a:ext cx="4114800" cy="475488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138988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68680" y="142646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Team Management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1938528"/>
            <a:ext cx="37033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88780"/>
                </a:solidFill>
              </a:rPr>
              <a:t>Week 1: KPIs and Hypothesis Testing divided individually — one task per person.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88780"/>
                </a:solidFill>
              </a:rPr>
              <a:t>Week 2: One big task per team member — shared ownership of deliverables.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88780"/>
                </a:solidFill>
              </a:rPr>
              <a:t>Leadership shifted from Week 1 (assigned lead) to Week 2 (shared knowledge and peer training).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88780"/>
                </a:solidFill>
              </a:rPr>
              <a:t>Tools: Trello for task tracking · GitHub for version control · at least 1 commit per project day.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353312"/>
            <a:ext cx="411480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63440" y="1353312"/>
            <a:ext cx="4114800" cy="47548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73168" y="138988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166360" y="142646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Challenges &amp; Learnings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46320" y="1938528"/>
            <a:ext cx="37033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88780"/>
                </a:solidFill>
              </a:rPr>
              <a:t>Challenges: Communication — coordinating decisions, naming conventions, code structure and which dataset to use at each stage of the analysis.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88780"/>
                </a:solidFill>
              </a:rPr>
              <a:t>Learnings: Regular review is essential to ensure consistency in grouping methodology. Being precise and strict with the questions we ask — and get asked — is key to avoiding misaligned results.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Strengths, Limitations &amp; Next Steps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780"/>
                </a:solidFill>
              </a:rPr>
              <a:t>12 / 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353312"/>
            <a:ext cx="2743200" cy="35478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353312"/>
            <a:ext cx="2743200" cy="43891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389888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58952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Strengths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29768" y="1874520"/>
            <a:ext cx="25054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· Large sample size — 317,235 rows, 30k+ unique visits per group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29768" y="2624328"/>
            <a:ext cx="25054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· Real user data from a genuine A/B experiment with proper control/test split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29768" y="3374136"/>
            <a:ext cx="25054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· Multiple KPIs analysed across completion, time, errors and funnel drop-off — drop-off was measured but ultimately excluded from the formal analysis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29768" y="4123944"/>
            <a:ext cx="25054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· No meaningful demographic bias confirmed through Tableau visualisations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172968" y="1353312"/>
            <a:ext cx="2743200" cy="35478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72968" y="1353312"/>
            <a:ext cx="2743200" cy="438912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64408" y="1389888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611880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Limitations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82696" y="1874520"/>
            <a:ext cx="25054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· 126,662 rows had no group assignment and were excluded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82696" y="2624328"/>
            <a:ext cx="25054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· Test period only ~3 months — seasonal effects cannot be ruled out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282696" y="3374136"/>
            <a:ext cx="25054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· Assignment method undocumented — minor randomisation risk remains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82696" y="4123944"/>
            <a:ext cx="25054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· Step-flow logic unclear — uncertain which steps can lead backwards to which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025896" y="1353312"/>
            <a:ext cx="2743200" cy="35478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5D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25896" y="1353312"/>
            <a:ext cx="2743200" cy="438912"/>
          </a:xfrm>
          <a:prstGeom prst="rect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17336" y="1389888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64808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135624" y="1874520"/>
            <a:ext cx="25054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· Investigate why users go backwards at the start of the process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135624" y="2624328"/>
            <a:ext cx="25054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· Re-run analysis with demographic filters to check if specific segments benefit more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135624" y="3374136"/>
            <a:ext cx="25054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44441"/>
                </a:solidFill>
              </a:rPr>
              <a:t>· Extend or repeat the test across different seasons to confirm results hold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82880"/>
            <a:ext cx="36576" cy="347472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164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A07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0"/>
          </a:xfrm>
          <a:prstGeom prst="line">
            <a:avLst/>
          </a:prstGeom>
          <a:noFill/>
          <a:ln w="19050">
            <a:solidFill>
              <a:srgbClr val="9A0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780"/>
                </a:solidFill>
              </a:rPr>
              <a:t>13 / 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371600"/>
            <a:ext cx="8412480" cy="12801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4630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 Verdict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182880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1EFE8"/>
                </a:solidFill>
              </a:rPr>
              <a:t>The new UI significantly boosted completion rates — up 13.63%, well above the 5% target. Users in the test group dropped off less at the beginning and end of the funnel and progressed further through the process.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229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4441"/>
                </a:solidFill>
              </a:rPr>
              <a:t>Completion rate jumped from 51.91% to 65.54% — the new design works.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4441"/>
                </a:solidFill>
              </a:rPr>
              <a:t>Time improvements were significant at Start, Step 2 and Step 3 — but test users were actually slower at Confirm.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4441"/>
                </a:solidFill>
              </a:rPr>
              <a:t>Error rates were higher in the test group — users navigated backwards more, especially early on.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4441"/>
                </a:solidFill>
              </a:rPr>
              <a:t>Recommendation: roll out the new UI, but investigate why users are confused at the start of the process.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9A0718"/>
          </a:solidFill>
          <a:ln w="12700">
            <a:solidFill>
              <a:srgbClr val="9A071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389120"/>
            <a:ext cx="3474720" cy="754380"/>
          </a:xfrm>
          <a:prstGeom prst="rect">
            <a:avLst/>
          </a:prstGeom>
          <a:solidFill>
            <a:srgbClr val="6B0411"/>
          </a:solidFill>
          <a:ln w="12700">
            <a:solidFill>
              <a:srgbClr val="6B04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4572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182880" y="1417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VANGUARD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840480" y="109728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3840480" y="2286000"/>
            <a:ext cx="5029200" cy="0"/>
          </a:xfrm>
          <a:prstGeom prst="line">
            <a:avLst/>
          </a:prstGeom>
          <a:noFill/>
          <a:ln w="25400">
            <a:solidFill>
              <a:srgbClr val="9A071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0" y="24688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1EF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840480" y="320040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780"/>
                </a:solidFill>
              </a:rPr>
              <a:t>Gabriela Cascione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88780"/>
                </a:solidFill>
              </a:rPr>
              <a:t>Hina Haq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88780"/>
                </a:solidFill>
              </a:rPr>
              <a:t>Jorge Barrios Hurtado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40480" y="4663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780"/>
                </a:solidFill>
              </a:rPr>
              <a:t>IronHack · Weeks 5 &amp; 6 ·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Vanguard A/B Test Analysis</dc:title>
  <dc:subject>PptxGenJS Presentation</dc:subject>
  <dc:creator>Gabriela Cascione, Hina Haq, Jorge Barrios Hurtado</dc:creator>
  <cp:lastModifiedBy>Gabriela Cascione, Hina Haq, Jorge Barrios Hurtado</cp:lastModifiedBy>
  <cp:revision>1</cp:revision>
  <dcterms:created xsi:type="dcterms:W3CDTF">2026-05-07T14:58:02Z</dcterms:created>
  <dcterms:modified xsi:type="dcterms:W3CDTF">2026-05-07T14:58:02Z</dcterms:modified>
</cp:coreProperties>
</file>