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</a:rPr>
              <a:t>A/B TEST ANALYSIS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9144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improve client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completion rates?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1EFE8"/>
                </a:solidFill>
              </a:rPr>
              <a:t>A data-driven analysis of Vanguard's digital UX experiment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888780"/>
                </a:solidFill>
              </a:rPr>
              <a:t>Gabriela Cascione  ·  Hina Haq  ·  Jorge Barrios Hurtado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4389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2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54864" cy="338328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Vanguard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Vanguard is one of the world's largest investment management companies, serving over 50 million investors globally.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As part of a digital transformation initiative, the UX team designed a new online process with a refreshed interface and in-context prompts to guide clients step by step.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The goal: reduce friction and increase the number of clients completing the process.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114800" cy="33832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Central Question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1965960"/>
            <a:ext cx="3657600" cy="0"/>
          </a:xfrm>
          <a:prstGeom prst="line">
            <a:avLst/>
          </a:prstGeom>
          <a:noFill/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 lead to a statistically significant improvement in client completion rates?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32004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1EFE8"/>
                </a:solidFill>
              </a:rPr>
              <a:t>Test period: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March 15 – June 20, 2017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1EFE8"/>
                </a:solidFill>
              </a:rPr>
              <a:t>Groups: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Control (old UI) vs Test (new UI)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1EFE8"/>
                </a:solidFill>
              </a:rPr>
              <a:t>Success threshold: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≥5% improvement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Overview &amp; Preparation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3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265176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 Profiles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df_final_demo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Demographics: age, gender, tenure, balance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353312"/>
            <a:ext cx="265176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3931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Digital Footprints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df_final_web_data (pt_1 + pt_2)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1012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Step-by-step interactions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1353312"/>
            <a:ext cx="265176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 Roster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476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df_final_experiment_clients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4476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Client assignment: Control or Test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 Merge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8912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Combined pt_1 + pt_2, joined with demo and experiment tables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21408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21408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4560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 Nulls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194560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126,662 rows without group assignment identified (demo-only)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877056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77056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0208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  Types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950208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date_time → datetime64; process steps mapped to numeric order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32704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32704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5856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  Outliers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705856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Sessions &gt; 30 min filtered out as inactive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88352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88352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  Features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61504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Added step_num, time_spent, prev_step_num, is_error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Profile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4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69748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898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01  Who Are Vanguard's Clients?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24688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88780"/>
                </a:solidFill>
              </a:rPr>
              <a:t>[Insert: Age distribution chart · Gender split · Tenure histogram]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18688" y="1353312"/>
            <a:ext cx="269748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18688" y="1353312"/>
            <a:ext cx="2697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55848" y="13898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02  Behaviour Patterns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55848" y="1874520"/>
            <a:ext cx="24688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88780"/>
                </a:solidFill>
              </a:rPr>
              <a:t>[Insert: Step visit counts · Session distribution · Group size comparison]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17336" y="1353312"/>
            <a:ext cx="269748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17336" y="1353312"/>
            <a:ext cx="2697480" cy="411480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54496" y="13898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03  Key Observations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54496" y="1874520"/>
            <a:ext cx="24688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88780"/>
                </a:solidFill>
              </a:rPr>
              <a:t>[Insert: Key observations from EDA before A/B results]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1 — Completion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5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Definition: % of unique visits that reach 'confirm' from 'start'  ·  Success: Test &gt; Control by ≥5%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51.91%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780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2194560"/>
            <a:ext cx="2651760" cy="2468880"/>
          </a:xfrm>
          <a:prstGeom prst="rect">
            <a:avLst/>
          </a:prstGeom>
          <a:solidFill>
            <a:srgbClr val="9A0718"/>
          </a:solidFill>
          <a:ln w="635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65.54%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EFE8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Difference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+13.63%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12648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780"/>
                </a:solidFill>
              </a:rPr>
              <a:t>✅ beats 5%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2 — Average Time Spent per Step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6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Mean duration (seconds) per step per visit  ·  Success: Test &lt; Control (faster = better UX)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 (sec)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(sec)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Faster?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Start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60.91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56.24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47.46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58.48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90.21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88.13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133.30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124.83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Confirm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156.16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221.59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test group was significantly faster at Start, Step 2 and Step 3. No significant difference at Step 1. Test users spent considerably more time at Confirm — a negative finding.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3 — Error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7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% of visits where users moved backward from a step  ·  Success: Test &lt; Control (less friction)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Step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19202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Control error 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1920240"/>
            <a:ext cx="192024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error 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1920240"/>
            <a:ext cx="10972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19202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Diff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0" y="1920240"/>
            <a:ext cx="10972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0" y="19202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Result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Start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304288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23042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0.00%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2304288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23042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0.00%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0" y="2304288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23042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780"/>
                </a:solidFill>
              </a:rPr>
              <a:t>0.00%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0" y="2304288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23042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—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2688336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603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9.57%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2688336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18.04%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0" y="2688336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26883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+8.47%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0" y="2688336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26883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2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60320" y="3072384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60320" y="30723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8.91%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0" y="3072384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0" y="30723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16.17%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583680" y="3072384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30723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+7.26%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772400" y="3072384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0" y="30723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3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560320" y="3456432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4564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20.94%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0" y="3456432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34564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19.78%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583680" y="3456432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83680" y="3456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-1.16%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7772400" y="3456432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0" y="3456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Confirm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560320" y="3840480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320" y="38404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39.03%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3840480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0" y="38404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9.61%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583680" y="3840480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-29.42%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7772400" y="3840480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72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</a:rPr>
              <a:t>Interesting finding: test group had higher error rates at Steps 1–2, but a dramatically lower rate at Confirm (9.61% vs 39.03%). The new UI did not reduce overall friction.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Testing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8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58952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≤ Completion rate (Control)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&gt; Completion rate (Control)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35.04 · p &lt; 0.000001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Test: 65.54% vs Control: 51.91%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design significantly improved process completion.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353312"/>
            <a:ext cx="27432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11880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Time Spent per Step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82696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≥ Control group 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11880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&lt; Control group time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82696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82696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 at Start, Step 2, Step 3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 at Step 1 and Confirm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Start (p=0.0011) · Step 2 (p=0.0101) · Step 3 (p=0.0001): test group significantly faster.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Step 1 (p=1.0): no significant difference.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Confirm (p=0.9999): test group is actually slower — negative finding.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5896" y="1353312"/>
            <a:ext cx="2743200" cy="47548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64808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Error Rate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64808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≥ Error rate (Control)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35624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64808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&lt; Error rate (Control)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35624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35624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7.9996 · p = 1.0000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UI did not reduce errors — test group showed higher error rate than control.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Evaluation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9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Design Effectiveness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371600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14173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Well-structured control/test split; unassigned client IDs were dropped to ensure clean group comparison.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084832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1305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Randomisation &amp; Balance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084832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13055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Groups unequal (~3k more in test), assignment method undocumented — bias expected but not seen in visualisations.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798064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Demographic Balance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798064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84378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No meaningful bias detected across age, gender, tenure, balance or account count.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5570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11296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35570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3-month window (Mar–Jun 2017) was adequate, though seasonal effects cannot be fully ruled out.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2702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Additional Data Needs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4224528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67328" y="42702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Clearer step-flow mapping, app context, and client goals would enable more targeted recommendations.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10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3154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1EFE8"/>
                </a:solidFill>
              </a:rPr>
              <a:t>[ Demo 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Teamwork &amp; Learnings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11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41148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Team Management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1: KPIs and Hypothesis Testing divided individually — one task per person.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2: One big task per team member — shared ownership of deliverables.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Leadership shifted from Week 1 (assigned lead) to Week 2 (shared knowledge and peer training).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Tools: Trello for task tracking · GitHub for version control · at least 1 commit per project day.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353312"/>
            <a:ext cx="41148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Challenges &amp; Learnings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Challenges: Communication — coordinating decisions, naming conventions, code structure and which dataset to use at each stage of the analysis.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Learnings: Regular review is essential to ensure consistency in grouping methodology. Being precise and strict with the questions we ask — and get asked — is key to avoiding misaligned results.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Strengths, Limitations &amp; Next Steps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12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Strengths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Large sample size — 317,235 rows, 30k+ unique visits per group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9768" y="2624328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Real user data from a genuine A/B experiment with proper control/test split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3374136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Multiple KPIs analysed across completion, time, errors and funnel drop-off — drop-off was measured but ultimately excluded from the formal analysis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4123944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No meaningful demographic bias confirmed through Tableau visualisations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2968" y="1353312"/>
            <a:ext cx="274320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11880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Limitations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126,662 rows had no group assignment and were excluded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82696" y="2624328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Test period only ~3 months — seasonal effects cannot be ruled out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82696" y="3374136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Assignment method undocumented — minor randomisation risk remains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82696" y="4123944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Step-flow logic unclear — uncertain which steps can lead backwards to which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5896" y="1353312"/>
            <a:ext cx="274320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17336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6480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35624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Investigate why users go backwards at the start of the process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35624" y="2624328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Re-run analysis with demographic filters to check if specific segments benefit more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35624" y="3374136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Extend or repeat the test across different seasons to confirm results hold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13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1280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Verdict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EFE8"/>
                </a:solidFill>
              </a:rPr>
              <a:t>The new UI significantly boosted completion rates — up 13.63%, well above the 5% target. Users in the test group dropped off less at the beginning and end of the funnel and progressed further through the process.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Completion rate jumped from 51.91% to 65.54% — the new design works.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Time improvements were significant at Start, Step 2 and Step 3 — but test users were actually slower at Confirm.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Error rates were higher in the test group — users navigated backwards more, especially early 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Recommendation: roll out the new UI, but investigate why users are confused at the start of the process.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097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3840480" y="2286000"/>
            <a:ext cx="5029200" cy="0"/>
          </a:xfrm>
          <a:prstGeom prst="line">
            <a:avLst/>
          </a:prstGeom>
          <a:noFill/>
          <a:ln w="25400">
            <a:solidFill>
              <a:srgbClr val="9A07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1E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780"/>
                </a:solidFill>
              </a:rPr>
              <a:t>Gabriela Cascione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780"/>
                </a:solidFill>
              </a:rPr>
              <a:t>Hina Haq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780"/>
                </a:solidFill>
              </a:rPr>
              <a:t>Jorge Barrios Hurtado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A/B Test Analysis</dc:title>
  <dc:subject>PptxGenJS Presentation</dc:subject>
  <dc:creator>Gabriela Cascione, Hina Haq, Jorge Barrios Hurtado</dc:creator>
  <cp:lastModifiedBy>Gabriela Cascione, Hina Haq, Jorge Barrios Hurtado</cp:lastModifiedBy>
  <cp:revision>1</cp:revision>
  <dcterms:created xsi:type="dcterms:W3CDTF">2026-05-07T13:58:54Z</dcterms:created>
  <dcterms:modified xsi:type="dcterms:W3CDTF">2026-05-07T13:58:54Z</dcterms:modified>
</cp:coreProperties>
</file>